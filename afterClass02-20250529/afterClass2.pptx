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7" r:id="rId1"/>
    <p:sldMasterId id="2147483798" r:id="rId2"/>
    <p:sldMasterId id="2147483799" r:id="rId3"/>
  </p:sldMasterIdLst>
  <p:notesMasterIdLst>
    <p:notesMasterId r:id="rId13"/>
  </p:notesMasterIdLst>
  <p:sldIdLst>
    <p:sldId id="361" r:id="rId4"/>
    <p:sldId id="257" r:id="rId5"/>
    <p:sldId id="262" r:id="rId6"/>
    <p:sldId id="283" r:id="rId7"/>
    <p:sldId id="362" r:id="rId8"/>
    <p:sldId id="363" r:id="rId9"/>
    <p:sldId id="302" r:id="rId10"/>
    <p:sldId id="305" r:id="rId11"/>
    <p:sldId id="306" r:id="rId12"/>
  </p:sldIdLst>
  <p:sldSz cx="9144000" cy="5143500" type="screen16x9"/>
  <p:notesSz cx="6858000" cy="9144000"/>
  <p:embeddedFontLst>
    <p:embeddedFont>
      <p:font typeface="Anton" pitchFamily="2" charset="0"/>
      <p:regular r:id="rId14"/>
    </p:embeddedFon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Helvetica Neue Ligh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2128dbe8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12128dbe8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para la primera clase (después no va).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20b44b0dae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20b44b0dae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20b44b0dae_0_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g120b44b0dae_0_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5ad1fdc11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g15ad1fdc11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9FC15019-3985-30CB-285F-BAFA8C7A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5ad1fdc114_0_24:notes">
            <a:extLst>
              <a:ext uri="{FF2B5EF4-FFF2-40B4-BE49-F238E27FC236}">
                <a16:creationId xmlns:a16="http://schemas.microsoft.com/office/drawing/2014/main" id="{52D8A5DC-BC45-C09F-3016-3C17FBED7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g15ad1fdc114_0_24:notes">
            <a:extLst>
              <a:ext uri="{FF2B5EF4-FFF2-40B4-BE49-F238E27FC236}">
                <a16:creationId xmlns:a16="http://schemas.microsoft.com/office/drawing/2014/main" id="{A64CF2AA-D657-385B-40C1-45FE57CBA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10507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5ad1fdc11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g15ad1fdc11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037262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20b44b0dae_0_1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7" name="Google Shape;887;g120b44b0dae_0_1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Obligatoria. Se sugiere ubicar al finalizar la explicación de algún tema, para abrir formalmente el espacio de preguntas y ordenar la interacción.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20b44b0dae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3" name="Google Shape;903;g120b44b0dae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20b44b0dae_0_1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8" name="Google Shape;908;g120b44b0dae_0_1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x">
  <p:cSld name="TITLE_AND_BODY">
    <p:bg>
      <p:bgPr>
        <a:solidFill>
          <a:schemeClr val="dk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3687" y="1942375"/>
            <a:ext cx="4516625" cy="125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761250" y="1909050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Anton"/>
              <a:buNone/>
              <a:defRPr sz="4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6">
  <p:cSld name="CUSTOM_36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/>
        </p:nvSpPr>
        <p:spPr>
          <a:xfrm>
            <a:off x="3626850" y="1163625"/>
            <a:ext cx="2157900" cy="3138600"/>
          </a:xfrm>
          <a:prstGeom prst="rect">
            <a:avLst/>
          </a:prstGeom>
          <a:noFill/>
          <a:ln w="38100" cap="flat" cmpd="sng">
            <a:solidFill>
              <a:srgbClr val="3CEF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7925" y="4659625"/>
            <a:ext cx="1186526" cy="3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6"/>
          <p:cNvSpPr/>
          <p:nvPr/>
        </p:nvSpPr>
        <p:spPr>
          <a:xfrm>
            <a:off x="3778675" y="1333050"/>
            <a:ext cx="1819800" cy="330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59;p16"/>
          <p:cNvCxnSpPr/>
          <p:nvPr/>
        </p:nvCxnSpPr>
        <p:spPr>
          <a:xfrm>
            <a:off x="3761100" y="2446275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16"/>
          <p:cNvCxnSpPr/>
          <p:nvPr/>
        </p:nvCxnSpPr>
        <p:spPr>
          <a:xfrm>
            <a:off x="3761100" y="2928356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6"/>
          <p:cNvCxnSpPr/>
          <p:nvPr/>
        </p:nvCxnSpPr>
        <p:spPr>
          <a:xfrm>
            <a:off x="3761100" y="3843832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6"/>
          <p:cNvCxnSpPr/>
          <p:nvPr/>
        </p:nvCxnSpPr>
        <p:spPr>
          <a:xfrm>
            <a:off x="3761100" y="3380081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3" name="Google Shape;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200" y="1391289"/>
            <a:ext cx="196500" cy="1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/>
          <p:nvPr/>
        </p:nvSpPr>
        <p:spPr>
          <a:xfrm>
            <a:off x="1243350" y="1163625"/>
            <a:ext cx="2157900" cy="3138600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1395175" y="1333050"/>
            <a:ext cx="1819800" cy="330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" name="Google Shape;66;p16"/>
          <p:cNvCxnSpPr/>
          <p:nvPr/>
        </p:nvCxnSpPr>
        <p:spPr>
          <a:xfrm>
            <a:off x="1377600" y="2446275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16"/>
          <p:cNvCxnSpPr/>
          <p:nvPr/>
        </p:nvCxnSpPr>
        <p:spPr>
          <a:xfrm>
            <a:off x="1377600" y="2928356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16"/>
          <p:cNvCxnSpPr/>
          <p:nvPr/>
        </p:nvCxnSpPr>
        <p:spPr>
          <a:xfrm>
            <a:off x="1377600" y="3843832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6"/>
          <p:cNvCxnSpPr/>
          <p:nvPr/>
        </p:nvCxnSpPr>
        <p:spPr>
          <a:xfrm>
            <a:off x="1377600" y="3380081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250" y="1391289"/>
            <a:ext cx="196500" cy="1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6010350" y="1163625"/>
            <a:ext cx="2157900" cy="3138600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6162175" y="1333050"/>
            <a:ext cx="1819800" cy="330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6"/>
          <p:cNvCxnSpPr/>
          <p:nvPr/>
        </p:nvCxnSpPr>
        <p:spPr>
          <a:xfrm>
            <a:off x="6144600" y="2446275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6"/>
          <p:cNvCxnSpPr/>
          <p:nvPr/>
        </p:nvCxnSpPr>
        <p:spPr>
          <a:xfrm>
            <a:off x="6144600" y="2928356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6"/>
          <p:cNvCxnSpPr/>
          <p:nvPr/>
        </p:nvCxnSpPr>
        <p:spPr>
          <a:xfrm>
            <a:off x="6144600" y="3843832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6"/>
          <p:cNvCxnSpPr/>
          <p:nvPr/>
        </p:nvCxnSpPr>
        <p:spPr>
          <a:xfrm>
            <a:off x="6144600" y="3380081"/>
            <a:ext cx="18549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3250" y="1391289"/>
            <a:ext cx="196500" cy="1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1398000" y="213650"/>
            <a:ext cx="6348000" cy="9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i="1">
                <a:solidFill>
                  <a:srgbClr val="121212"/>
                </a:solidFill>
                <a:latin typeface="Anton"/>
                <a:ea typeface="Anton"/>
                <a:cs typeface="Anton"/>
                <a:sym typeface="Anton"/>
              </a:rPr>
              <a:t>CRONOGRAMA DEL CURSO</a:t>
            </a:r>
            <a:endParaRPr sz="3600" i="1">
              <a:solidFill>
                <a:srgbClr val="121212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761250" y="1528050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4000"/>
              <a:buFont typeface="Anton"/>
              <a:buNone/>
              <a:defRPr sz="4000">
                <a:solidFill>
                  <a:srgbClr val="E0FF00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4">
  <p:cSld name="CUSTOM_3">
    <p:bg>
      <p:bgPr>
        <a:gradFill>
          <a:gsLst>
            <a:gs pos="0">
              <a:srgbClr val="E0FF00"/>
            </a:gs>
            <a:gs pos="100000">
              <a:srgbClr val="3CEFAB"/>
            </a:gs>
          </a:gsLst>
          <a:lin ang="10801400" scaled="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761250" y="1909050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Anton"/>
              <a:buNone/>
              <a:defRPr sz="4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5">
  <p:cSld name="CUSTOM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761250" y="1528050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4000"/>
              <a:buFont typeface="Anton"/>
              <a:buNone/>
              <a:defRPr sz="4000">
                <a:solidFill>
                  <a:srgbClr val="E0FF00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6">
  <p:cSld name="CUSTOM_5">
    <p:bg>
      <p:bgPr>
        <a:gradFill>
          <a:gsLst>
            <a:gs pos="0">
              <a:srgbClr val="EF89D2"/>
            </a:gs>
            <a:gs pos="100000">
              <a:srgbClr val="E0FF00"/>
            </a:gs>
          </a:gsLst>
          <a:lin ang="10801400" scaled="0"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761250" y="1909050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Anton"/>
              <a:buNone/>
              <a:defRPr sz="4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8">
  <p:cSld name="CUSTOM_7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7925" y="4659625"/>
            <a:ext cx="1186526" cy="3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761250" y="370925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Anton"/>
              <a:buNone/>
              <a:defRPr sz="4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857250" y="1781725"/>
            <a:ext cx="78810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7">
  <p:cSld name="CUSTOM_8">
    <p:bg>
      <p:bgPr>
        <a:solidFill>
          <a:srgbClr val="3CEFA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7925" y="4659625"/>
            <a:ext cx="1186526" cy="3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761250" y="1361525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Anton"/>
              <a:buNone/>
              <a:defRPr sz="4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>
            <a:off x="857250" y="2696125"/>
            <a:ext cx="78810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●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Font typeface="Helvetica Neue Light"/>
              <a:buChar char="○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Font typeface="Helvetica Neue Light"/>
              <a:buChar char="■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5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>
            <a:spLocks noGrp="1"/>
          </p:cNvSpPr>
          <p:nvPr>
            <p:ph type="title"/>
          </p:nvPr>
        </p:nvSpPr>
        <p:spPr>
          <a:xfrm>
            <a:off x="761250" y="1909050"/>
            <a:ext cx="76215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4000"/>
              <a:buFont typeface="Anton"/>
              <a:buNone/>
              <a:defRPr sz="4000">
                <a:solidFill>
                  <a:srgbClr val="E0FF00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0FF00"/>
              </a:buClr>
              <a:buSzPts val="1400"/>
              <a:buNone/>
              <a:defRPr>
                <a:solidFill>
                  <a:srgbClr val="E0FF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6">
  <p:cSld name="CUSTOM_1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/>
        </p:nvSpPr>
        <p:spPr>
          <a:xfrm>
            <a:off x="2657700" y="2394100"/>
            <a:ext cx="38286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E8E7E3"/>
                </a:solidFill>
              </a:rPr>
              <a:t>☕ </a:t>
            </a:r>
            <a:endParaRPr sz="6000">
              <a:solidFill>
                <a:srgbClr val="E8E7E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i="1">
                <a:solidFill>
                  <a:srgbClr val="E0FF00"/>
                </a:solidFill>
                <a:latin typeface="Anton"/>
                <a:ea typeface="Anton"/>
                <a:cs typeface="Anton"/>
                <a:sym typeface="Anton"/>
              </a:rPr>
              <a:t>BREAK</a:t>
            </a:r>
            <a:endParaRPr sz="6000" i="1">
              <a:solidFill>
                <a:srgbClr val="E0FF00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¡5/10 MINUTOS Y VOLVEMOS!</a:t>
            </a:r>
            <a:endParaRPr sz="21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i="1">
              <a:solidFill>
                <a:srgbClr val="E0FF00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con título 1">
  <p:cSld name="TITLE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00200" y="4740050"/>
            <a:ext cx="1057500" cy="2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">
  <p:cSld name="TITLE_AND_BODY_4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5">
  <p:cSld name="TITLE_AND_BODY_5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6">
  <p:cSld name="TITLE_AND_BODY_6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9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0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2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3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4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_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6" name="Google Shape;156;p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>
  <p:cSld name="TITLE_6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4" name="Google Shape;164;p4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5" name="Google Shape;165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168" name="Google Shape;168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9" name="Google Shape;169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2">
  <p:cSld name="TITLE_AND_BODY_1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_AND_BODY_13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" name="Google Shape;19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2">
  <p:cSld name="SECTION_HEADER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3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3">
  <p:cSld name="SECTION_HEADER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4">
  <p:cSld name="SECTION_HEADER_1_1_1_1_1_1_1_1_1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4">
  <p:cSld name="SECTION_HEADER_1_1_1_1_1_1_1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3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6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7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7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7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3" name="Google Shape;253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Fondo blanco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68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006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4" r:id="rId34"/>
    <p:sldLayoutId id="2147483696" r:id="rId35"/>
    <p:sldLayoutId id="2147483697" r:id="rId36"/>
    <p:sldLayoutId id="2147483698" r:id="rId37"/>
    <p:sldLayoutId id="2147483701" r:id="rId38"/>
    <p:sldLayoutId id="2147483702" r:id="rId39"/>
    <p:sldLayoutId id="2147483704" r:id="rId40"/>
    <p:sldLayoutId id="2147483706" r:id="rId41"/>
    <p:sldLayoutId id="2147483708" r:id="rId42"/>
    <p:sldLayoutId id="2147483709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4" name="Google Shape;224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8" r:id="rId4"/>
    <p:sldLayoutId id="2147483721" r:id="rId5"/>
    <p:sldLayoutId id="214748380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e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ite.de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1"/>
          <p:cNvSpPr txBox="1"/>
          <p:nvPr/>
        </p:nvSpPr>
        <p:spPr>
          <a:xfrm>
            <a:off x="1127531" y="1670671"/>
            <a:ext cx="6651422" cy="109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6600" b="1" i="0" u="none" strike="noStrike" cap="none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Bienvenidos</a:t>
            </a:r>
            <a:endParaRPr sz="6600" b="1" i="0" u="none" strike="noStrike" cap="none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570;p162">
            <a:extLst>
              <a:ext uri="{FF2B5EF4-FFF2-40B4-BE49-F238E27FC236}">
                <a16:creationId xmlns:a16="http://schemas.microsoft.com/office/drawing/2014/main" id="{4F2F41D2-DCF4-8E3D-EC29-24188014FF54}"/>
              </a:ext>
            </a:extLst>
          </p:cNvPr>
          <p:cNvSpPr txBox="1"/>
          <p:nvPr/>
        </p:nvSpPr>
        <p:spPr>
          <a:xfrm>
            <a:off x="1199807" y="2557770"/>
            <a:ext cx="62214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3200" b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AfterClass 2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2800" b="1" i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 unos minutos arrancamos…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57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7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sz="4000" b="1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157"/>
          <p:cNvSpPr txBox="1"/>
          <p:nvPr/>
        </p:nvSpPr>
        <p:spPr>
          <a:xfrm>
            <a:off x="3655975" y="2541075"/>
            <a:ext cx="2227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sz="40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5" name="Google Shape;495;p157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62"/>
          <p:cNvSpPr txBox="1"/>
          <p:nvPr/>
        </p:nvSpPr>
        <p:spPr>
          <a:xfrm>
            <a:off x="1199807" y="976473"/>
            <a:ext cx="6221400" cy="303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32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AfterClass 2</a:t>
            </a:r>
            <a:endParaRPr lang="es" sz="32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s" sz="32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400" b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Typescript</a:t>
            </a:r>
            <a:endParaRPr lang="es" sz="36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s" sz="18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3200" b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3600" b="1" dirty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introducción y primeros pasos</a:t>
            </a:r>
            <a:endParaRPr sz="4000" b="1" i="0" u="none" strike="noStrike" cap="none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09"/>
          <p:cNvSpPr txBox="1"/>
          <p:nvPr/>
        </p:nvSpPr>
        <p:spPr>
          <a:xfrm>
            <a:off x="473350" y="370500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TypeScript</a:t>
            </a:r>
            <a:r>
              <a:rPr lang="es" sz="4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¿De qué se trata?</a:t>
            </a: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109"/>
          <p:cNvSpPr txBox="1"/>
          <p:nvPr/>
        </p:nvSpPr>
        <p:spPr>
          <a:xfrm>
            <a:off x="321417" y="1234407"/>
            <a:ext cx="3219305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Tipado estático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La principal característica de </a:t>
            </a:r>
            <a:r>
              <a:rPr lang="es-ES" sz="1350" dirty="0" err="1">
                <a:latin typeface="DM Sans"/>
                <a:ea typeface="DM Sans"/>
                <a:cs typeface="DM Sans"/>
                <a:sym typeface="DM Sans"/>
              </a:rPr>
              <a:t>Typescript</a:t>
            </a: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 es el tipado estático. Decimos que un lenguaje es de tipado estático cuando cumple con estas características principales: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lang="es-ES" sz="1350" dirty="0"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 pitchFamily="34" charset="0"/>
              <a:buChar char="•"/>
            </a:pP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Las variables tienen un tipo de dato.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 pitchFamily="34" charset="0"/>
              <a:buChar char="•"/>
            </a:pP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Los valores sólo se pueden asignar a variables del tipo correspondiente.</a:t>
            </a:r>
            <a:endParaRPr sz="1350" dirty="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190EE2-3491-F29C-6E37-A896FBE2E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512" y="1234407"/>
            <a:ext cx="4827420" cy="204290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A5B8EF2-90F4-742A-6B1C-BCD256B19CF0}"/>
              </a:ext>
            </a:extLst>
          </p:cNvPr>
          <p:cNvSpPr txBox="1"/>
          <p:nvPr/>
        </p:nvSpPr>
        <p:spPr>
          <a:xfrm>
            <a:off x="321417" y="4044155"/>
            <a:ext cx="71175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50" dirty="0"/>
              <a:t>A partir de estas dos características principales, se derivan algunas otras, como, por ejemplo: Interfaces, Genéricos, Argumentos con tipo,</a:t>
            </a:r>
          </a:p>
          <a:p>
            <a:r>
              <a:rPr lang="es-ES" sz="1350" dirty="0"/>
              <a:t>Tipo de retorno para las funciones, entre otras.</a:t>
            </a:r>
          </a:p>
          <a:p>
            <a:endParaRPr lang="es-A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AFAFDA86-B3B8-379F-586E-E18933A2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BAC75E-9E85-3313-5246-9A94577AB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52" y="234113"/>
            <a:ext cx="7353937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9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9"/>
          <p:cNvSpPr txBox="1"/>
          <p:nvPr/>
        </p:nvSpPr>
        <p:spPr>
          <a:xfrm>
            <a:off x="321416" y="1846295"/>
            <a:ext cx="8623203" cy="288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Vite: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Este entorno de desarrollo es una buena forma de comenzar a probar </a:t>
            </a:r>
            <a:r>
              <a:rPr lang="es-ES" sz="1350" dirty="0" err="1">
                <a:latin typeface="DM Sans"/>
                <a:ea typeface="DM Sans"/>
                <a:cs typeface="DM Sans"/>
                <a:sym typeface="DM Sans"/>
              </a:rPr>
              <a:t>TypeScript</a:t>
            </a: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: simple y rápida. Con una configuración por defecto propicia para nuestra primera aproximación al lenguaje.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lang="es-ES" sz="135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Node</a:t>
            </a: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 pitchFamily="34" charset="0"/>
              <a:buChar char="•"/>
            </a:pP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Levantando dos terminales CLI, y corriendo en una de ellas 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tsc</a:t>
            </a: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 –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watch</a:t>
            </a: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nodemon</a:t>
            </a: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 ./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dist</a:t>
            </a: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/app.js</a:t>
            </a: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 (o el punto de ingreso al proyecto, ya compilado). Previo instalar, por supuesto, </a:t>
            </a:r>
            <a:r>
              <a:rPr lang="es-ES" sz="1350" dirty="0" err="1">
                <a:latin typeface="DM Sans"/>
                <a:ea typeface="DM Sans"/>
                <a:cs typeface="DM Sans"/>
                <a:sym typeface="DM Sans"/>
              </a:rPr>
              <a:t>TypeScript</a:t>
            </a:r>
            <a:r>
              <a:rPr lang="es-ES" sz="1350" dirty="0"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npm</a:t>
            </a: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install</a:t>
            </a: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 –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save-dev</a:t>
            </a:r>
            <a:r>
              <a:rPr lang="es-ES" sz="1350" b="1" dirty="0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ES" sz="1350" b="1" dirty="0" err="1">
                <a:latin typeface="DM Sans"/>
                <a:ea typeface="DM Sans"/>
                <a:cs typeface="DM Sans"/>
                <a:sym typeface="DM Sans"/>
              </a:rPr>
              <a:t>typescrypt</a:t>
            </a:r>
            <a:endParaRPr lang="es-ES" sz="1350" b="1" dirty="0"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 pitchFamily="34" charset="0"/>
              <a:buChar char="•"/>
            </a:pP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Utilizando la dependencia </a:t>
            </a:r>
            <a:r>
              <a:rPr lang="es-AR" sz="1350" b="1" dirty="0" err="1">
                <a:latin typeface="DM Sans"/>
                <a:ea typeface="DM Sans"/>
                <a:cs typeface="DM Sans"/>
                <a:sym typeface="DM Sans"/>
              </a:rPr>
              <a:t>ts-node-dev</a:t>
            </a:r>
            <a:endParaRPr lang="es-AR" sz="1350" b="1" dirty="0"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 panose="020B0604020202020204" pitchFamily="34" charset="0"/>
              <a:buChar char="•"/>
            </a:pP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Utilizando la dependencia </a:t>
            </a:r>
            <a:r>
              <a:rPr lang="es-AR" sz="1350" b="1" dirty="0" err="1">
                <a:latin typeface="DM Sans"/>
                <a:ea typeface="DM Sans"/>
                <a:cs typeface="DM Sans"/>
                <a:sym typeface="DM Sans"/>
              </a:rPr>
              <a:t>npm</a:t>
            </a:r>
            <a:r>
              <a:rPr lang="es-AR" sz="1350" b="1" dirty="0">
                <a:latin typeface="DM Sans"/>
                <a:ea typeface="DM Sans"/>
                <a:cs typeface="DM Sans"/>
                <a:sym typeface="DM Sans"/>
              </a:rPr>
              <a:t>-run-</a:t>
            </a:r>
            <a:r>
              <a:rPr lang="es-AR" sz="1350" b="1" dirty="0" err="1">
                <a:latin typeface="DM Sans"/>
                <a:ea typeface="DM Sans"/>
                <a:cs typeface="DM Sans"/>
                <a:sym typeface="DM Sans"/>
              </a:rPr>
              <a:t>all</a:t>
            </a: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, que permite correr dos o más scripts del </a:t>
            </a:r>
            <a:r>
              <a:rPr lang="es-AR" sz="1350" dirty="0" err="1">
                <a:latin typeface="DM Sans"/>
                <a:ea typeface="DM Sans"/>
                <a:cs typeface="DM Sans"/>
                <a:sym typeface="DM Sans"/>
              </a:rPr>
              <a:t>package.json</a:t>
            </a: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. La estrategia aquí es similar a la indicada en el primer ítem, pero gracias a </a:t>
            </a:r>
            <a:r>
              <a:rPr lang="es-AR" sz="1350" dirty="0" err="1">
                <a:latin typeface="DM Sans"/>
                <a:ea typeface="DM Sans"/>
                <a:cs typeface="DM Sans"/>
                <a:sym typeface="DM Sans"/>
              </a:rPr>
              <a:t>npm</a:t>
            </a: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-run-</a:t>
            </a:r>
            <a:r>
              <a:rPr lang="es-AR" sz="1350" dirty="0" err="1">
                <a:latin typeface="DM Sans"/>
                <a:ea typeface="DM Sans"/>
                <a:cs typeface="DM Sans"/>
                <a:sym typeface="DM Sans"/>
              </a:rPr>
              <a:t>all</a:t>
            </a: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, con el </a:t>
            </a:r>
            <a:r>
              <a:rPr lang="es-AR" sz="1350" dirty="0" err="1">
                <a:latin typeface="DM Sans"/>
                <a:ea typeface="DM Sans"/>
                <a:cs typeface="DM Sans"/>
                <a:sym typeface="DM Sans"/>
              </a:rPr>
              <a:t>flag</a:t>
            </a: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 –p, puedo ejecutar ambos scripts en la misma terminal. Es necesario previamente correr el script </a:t>
            </a:r>
            <a:r>
              <a:rPr lang="es-AR" sz="1350" dirty="0" err="1">
                <a:latin typeface="DM Sans"/>
                <a:ea typeface="DM Sans"/>
                <a:cs typeface="DM Sans"/>
                <a:sym typeface="DM Sans"/>
              </a:rPr>
              <a:t>tsc</a:t>
            </a:r>
            <a:r>
              <a:rPr lang="es-AR" sz="1350" dirty="0">
                <a:latin typeface="DM Sans"/>
                <a:ea typeface="DM Sans"/>
                <a:cs typeface="DM Sans"/>
                <a:sym typeface="DM Sans"/>
              </a:rPr>
              <a:t>, para que genere el folder ./</a:t>
            </a:r>
            <a:r>
              <a:rPr lang="es-AR" sz="1350" dirty="0" err="1">
                <a:latin typeface="DM Sans"/>
                <a:ea typeface="DM Sans"/>
                <a:cs typeface="DM Sans"/>
                <a:sym typeface="DM Sans"/>
              </a:rPr>
              <a:t>dist</a:t>
            </a:r>
            <a:endParaRPr sz="1350" dirty="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30" name="Picture 6" descr="Vite logo idea by Marcis Bergmanis on Dribbble">
            <a:hlinkClick r:id="rId3"/>
            <a:extLst>
              <a:ext uri="{FF2B5EF4-FFF2-40B4-BE49-F238E27FC236}">
                <a16:creationId xmlns:a16="http://schemas.microsoft.com/office/drawing/2014/main" id="{4E2E331E-5517-7900-ADEA-5F71A31B5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219" y="740154"/>
            <a:ext cx="1866757" cy="139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5" name="Google Shape;485;p109"/>
          <p:cNvSpPr txBox="1"/>
          <p:nvPr/>
        </p:nvSpPr>
        <p:spPr>
          <a:xfrm>
            <a:off x="687518" y="370500"/>
            <a:ext cx="7926931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comienzo a probarlo?</a:t>
            </a: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1732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02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05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 b="0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206" title="Hashtag &quot;democratizando la educación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9675" y="2410500"/>
            <a:ext cx="5924650" cy="3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rhous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3032</TotalTime>
  <Words>436</Words>
  <Application>Microsoft Office PowerPoint</Application>
  <PresentationFormat>Presentación en pantalla (16:9)</PresentationFormat>
  <Paragraphs>37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DM Sans</vt:lpstr>
      <vt:lpstr>Helvetica Neue Light</vt:lpstr>
      <vt:lpstr>Anton</vt:lpstr>
      <vt:lpstr>Simple Light</vt:lpstr>
      <vt:lpstr>Coderhouse</vt:lpstr>
      <vt:lpstr>Coder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R. Polverelli</dc:creator>
  <cp:lastModifiedBy>Diego R. Polverelli</cp:lastModifiedBy>
  <cp:revision>52</cp:revision>
  <dcterms:modified xsi:type="dcterms:W3CDTF">2025-05-29T02:27:48Z</dcterms:modified>
</cp:coreProperties>
</file>